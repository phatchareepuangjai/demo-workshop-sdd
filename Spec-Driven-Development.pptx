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1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169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แนะนำหัวข้อ: SDD คือการเขียน spec ให้ชัดก่อน แล้วให้ AI สร้าง code ตาม spec นั้น เหมือนสถาปนิกเขียนแบบก่อนช่างลงมือสร้าง ไม่ใช่สร้างไปคิดไป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อุปมาหลักของคาบนี้ ให้เด็กตอบเองว่าถ้าเป็นบ้านจริงจะกล้าอยู่ไหม ประเด็นไม่ใช่ว่าสเก็ตช์แต่ละแผ่นผิด แต่คือมันอ้างอิงกันไม่ได้ ไม่มีระบบพิกัดร่วม ไม่มีชื่อเรียกชิ้นส่วน ไม่มีลำดับเวลา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ถามเด็กว่าเคยเจอไหม สั่ง AI แล้วได้ไม่ตรง แก้ไปแก้มาของเดิมพัง ปัญหาไม่ได้อยู่ที่ AI โง่ แต่อยู่ที่เราไม่เคยเขียนให้ชัดว่าอยากได้อะไร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ประเด็นที่เด็กมักไม่ทันคิด: คุยกับ AI แล้วเข้าใจตรงกัน ณ ตอนนั้น ไม่ได้แปลว่าความเข้าใจถูกเก็บไว้ พอเวลาผ่านไป คนเปลี่ยน AI เปลี่ยนรุ่น สิ่งที่เหลือคือ code ที่ไม่บอกเหตุผล spec ทำหน้าที่เก็บ “ทำไม” เอาไว้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จุดสำคัญ: SDD ไม่ได้แปลว่าห้าม prompt แต่แปลว่าเรา prompt ใส่ spec ก่อน แล้ว spec นั้นคือของจริงที่ code ต้องทำตาม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 2 คือข้อที่เด็กพลาดบ่อยที่สุด: พอเริ่มเขียน spec ก็รีบใส่ว่าจะใช้ React ใช้ Firebase ทั้งที่ยังไม่ได้ตกลงว่าจะทำอะไรให้ใคร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 converge คือสิ่งที่ prompt ธรรมดาไม่มี — มันคือการเทียบของที่สร้างเสร็จกับสิ่งที่ตกลงไว้ตอนแรก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 specify vs plan: specify = ลูกค้าพูด, plan = ช่างพูด ถ้าเอาสองอันปนกันตั้งแต่แรก จะล็อกตัวเองไว้กับเทคโนโลยีที่อาจไม่เหมาะ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ให้เด็กสังเกตว่าเราไม่ต้องพิมพ์ prompt ยาว ๆ อีกเลยหลังจากขั้น 2 เพราะข้อมูลทั้งหมดอยู่ในไฟล์ spec กับ plan 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คือคำสั่งที่ควรสอนให้ติดเป็นนิสัย มันบังคับให้เด็กตอบคำถามที่ตัวเองยังไม่ได้คิด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ถ้าเวลาจำกัด ข้ามสไลด์นี้ไปสาธิตสดเลยจะเห็นภาพกว่า แล้วค่อยกลับมาบอกว่าคำสั่งติดตั้งอยู่ในสไลด์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ปิดท้าย: SDD ไม่ได้ทำให้เขียน code เร็วขึ้นในนาทีแรก แต่ทำให้ไม่ต้องรื้อใหม่ในชั่วโมงที่สาม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 O R K S H O P</a:t>
            </a:r>
            <a:endParaRPr lang="en-US" sz="1450" dirty="0"/>
          </a:p>
        </p:txBody>
      </p:sp>
      <p:sp>
        <p:nvSpPr>
          <p:cNvPr id="3" name="Text 1"/>
          <p:cNvSpPr txBox="1"/>
          <p:nvPr/>
        </p:nvSpPr>
        <p:spPr>
          <a:xfrm>
            <a:off x="6018415" y="399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github.com/github/spec-kit</a:t>
            </a:r>
            <a:br>
              <a:rPr lang="th-TH" sz="13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</a:br>
            <a:r>
              <a:rPr lang="en-US" sz="13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By. Phatcharee Puangjai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530352"/>
            <a:ext cx="6400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Spec-Driven</a:t>
            </a:r>
            <a:endParaRPr lang="en-US" sz="4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Development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405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 spec ให้ชัดก่อน แล้วค่อยให้ AI ลงมือเขียน code ตาม</a:t>
            </a:r>
            <a:endParaRPr lang="en-US" sz="1900" dirty="0"/>
          </a:p>
        </p:txBody>
      </p:sp>
      <p:pic>
        <p:nvPicPr>
          <p:cNvPr id="6" name="Image 0" descr="img/hero_cit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2219248"/>
            <a:ext cx="9144000" cy="29242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488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ถ้าเราสร้างอาคาร แบบที่เรา prompt กัน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167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การต่อเติมบ้านไปเรื่อย ๆ โดยไม่มีแบบแผนชัดเจน</a:t>
            </a:r>
            <a:endParaRPr lang="en-US" sz="1450" b="1" dirty="0">
              <a:solidFill>
                <a:srgbClr val="1C3349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709160" y="13167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มีพิมพ์เขียวแผ่นเดียวตั้งแต่แรก</a:t>
            </a:r>
            <a:endParaRPr lang="en-US" sz="1600" dirty="0"/>
          </a:p>
        </p:txBody>
      </p:sp>
      <p:pic>
        <p:nvPicPr>
          <p:cNvPr id="6" name="Image 0" descr="img/broken_house.png"/>
          <p:cNvPicPr>
            <a:picLocks noChangeAspect="1"/>
          </p:cNvPicPr>
          <p:nvPr/>
        </p:nvPicPr>
        <p:blipFill>
          <a:blip r:embed="rId4"/>
          <a:srcRect t="7273" r="5582" b="9773"/>
          <a:stretch>
            <a:fillRect/>
          </a:stretch>
        </p:blipFill>
        <p:spPr>
          <a:xfrm>
            <a:off x="530357" y="1707710"/>
            <a:ext cx="3875189" cy="20025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700784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5"/>
          <p:cNvSpPr/>
          <p:nvPr/>
        </p:nvSpPr>
        <p:spPr>
          <a:xfrm>
            <a:off x="502920" y="1700784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6"/>
          <p:cNvSpPr/>
          <p:nvPr/>
        </p:nvSpPr>
        <p:spPr>
          <a:xfrm>
            <a:off x="4215384" y="1700784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7"/>
          <p:cNvSpPr/>
          <p:nvPr/>
        </p:nvSpPr>
        <p:spPr>
          <a:xfrm>
            <a:off x="4434840" y="1700784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502920" y="3712464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9"/>
          <p:cNvSpPr/>
          <p:nvPr/>
        </p:nvSpPr>
        <p:spPr>
          <a:xfrm>
            <a:off x="502920" y="3493008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0"/>
          <p:cNvSpPr/>
          <p:nvPr/>
        </p:nvSpPr>
        <p:spPr>
          <a:xfrm>
            <a:off x="4215384" y="3712464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1"/>
          <p:cNvSpPr/>
          <p:nvPr/>
        </p:nvSpPr>
        <p:spPr>
          <a:xfrm>
            <a:off x="4434840" y="3493008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5" name="Image 1" descr="img/architect.png"/>
          <p:cNvPicPr>
            <a:picLocks noChangeAspect="1"/>
          </p:cNvPicPr>
          <p:nvPr/>
        </p:nvPicPr>
        <p:blipFill>
          <a:blip r:embed="rId5"/>
          <a:srcRect l="1628" r="3953" b="6611"/>
          <a:stretch>
            <a:fillRect/>
          </a:stretch>
        </p:blipFill>
        <p:spPr>
          <a:xfrm>
            <a:off x="4818888" y="1691640"/>
            <a:ext cx="3602733" cy="2011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09160" y="1700784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3"/>
          <p:cNvSpPr/>
          <p:nvPr/>
        </p:nvSpPr>
        <p:spPr>
          <a:xfrm>
            <a:off x="4709160" y="1700784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4"/>
          <p:cNvSpPr/>
          <p:nvPr/>
        </p:nvSpPr>
        <p:spPr>
          <a:xfrm>
            <a:off x="8421624" y="1700784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5"/>
          <p:cNvSpPr/>
          <p:nvPr/>
        </p:nvSpPr>
        <p:spPr>
          <a:xfrm>
            <a:off x="8641080" y="1700784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6"/>
          <p:cNvSpPr/>
          <p:nvPr/>
        </p:nvSpPr>
        <p:spPr>
          <a:xfrm>
            <a:off x="4709160" y="3712464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7"/>
          <p:cNvSpPr/>
          <p:nvPr/>
        </p:nvSpPr>
        <p:spPr>
          <a:xfrm>
            <a:off x="4709160" y="3493008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18"/>
          <p:cNvSpPr/>
          <p:nvPr/>
        </p:nvSpPr>
        <p:spPr>
          <a:xfrm>
            <a:off x="8421624" y="3712464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19"/>
          <p:cNvSpPr/>
          <p:nvPr/>
        </p:nvSpPr>
        <p:spPr>
          <a:xfrm>
            <a:off x="8641080" y="3493008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0"/>
          <p:cNvSpPr txBox="1"/>
          <p:nvPr/>
        </p:nvSpPr>
        <p:spPr>
          <a:xfrm>
            <a:off x="502920" y="384048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แต่ละ</a:t>
            </a: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 prompt </a:t>
            </a: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คือกระดาษคนละแผ่น</a:t>
            </a: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 — </a:t>
            </a: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ไม่รู้ว่าเสา</a:t>
            </a:r>
            <a:r>
              <a:rPr lang="th-TH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ไหน</a:t>
            </a: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วางบนโครงสร้างไหน</a:t>
            </a: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? </a:t>
            </a: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ผนังนี้เพิ่มมาตอนไหน</a:t>
            </a: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?</a:t>
            </a:r>
            <a:r>
              <a:rPr lang="th-TH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 ทำไมบ้านเราถึงมีเสานี้</a:t>
            </a: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? </a:t>
            </a:r>
          </a:p>
        </p:txBody>
      </p:sp>
      <p:sp>
        <p:nvSpPr>
          <p:cNvPr id="25" name="Text 21"/>
          <p:cNvSpPr txBox="1"/>
          <p:nvPr/>
        </p:nvSpPr>
        <p:spPr>
          <a:xfrm>
            <a:off x="4709160" y="384048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ทุกชิ้นอยู่บนแบบเดียวกัน มีชื่อ มีตำแหน่ง รู้ว่าอะไรรับอะไร และแก้ครั้งล่าสุดเมื่อไหร่</a:t>
            </a:r>
            <a:endParaRPr lang="en-US" sz="14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1EF5AA5-1F75-0471-2966-BC4A1EBD6747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สั่ง AI แบบเดิม = วนอยู่ที่เดิม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“Vibe Coding” — ต่อเติมไปเรื่อย ๆ เหมือนสั่งช่างก่ออิฐโดยไม่มีแบบ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395728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649224" y="1490472"/>
            <a:ext cx="347472" cy="347472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649224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4630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พิมพ์สั่งยาว ๆ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188366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บอกทุกอย่างในประโยคเดียว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4952" y="1371600"/>
            <a:ext cx="2395728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191256" y="1490472"/>
            <a:ext cx="347472" cy="347472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3191256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14630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เดาส่วนที่เหลือ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191256" y="188366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สิ่งที่ไม่ได้บอก = AI คิดเอง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2395728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649224" y="2606040"/>
            <a:ext cx="347472" cy="347472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649224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" y="257860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ได้ code ไม่ตรงใจ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" y="299923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ถูกบ้างผิดบ้าง แก้ตรงไหนดี?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044952" y="2487168"/>
            <a:ext cx="2395728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191256" y="2606040"/>
            <a:ext cx="347472" cy="347472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3191256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2578608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สั่งแก้ใหม่อีกรอบ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3191256" y="299923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ของเดิมพังตามไปด้วย</a:t>
            </a:r>
            <a:endParaRPr lang="en-US" sz="1350" dirty="0"/>
          </a:p>
        </p:txBody>
      </p:sp>
      <p:pic>
        <p:nvPicPr>
          <p:cNvPr id="24" name="Image 0" descr="img/bricklayer.png"/>
          <p:cNvPicPr>
            <a:picLocks noChangeAspect="1"/>
          </p:cNvPicPr>
          <p:nvPr/>
        </p:nvPicPr>
        <p:blipFill>
          <a:blip r:embed="rId4"/>
          <a:srcRect l="1558" r="5000" b="5983"/>
          <a:stretch>
            <a:fillRect/>
          </a:stretch>
        </p:blipFill>
        <p:spPr>
          <a:xfrm>
            <a:off x="5763491" y="1367443"/>
            <a:ext cx="2908171" cy="213969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715000" y="1371600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3"/>
          <p:cNvSpPr/>
          <p:nvPr/>
        </p:nvSpPr>
        <p:spPr>
          <a:xfrm>
            <a:off x="5715000" y="1371600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4"/>
          <p:cNvSpPr/>
          <p:nvPr/>
        </p:nvSpPr>
        <p:spPr>
          <a:xfrm>
            <a:off x="8421624" y="1371600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5"/>
          <p:cNvSpPr/>
          <p:nvPr/>
        </p:nvSpPr>
        <p:spPr>
          <a:xfrm>
            <a:off x="8641080" y="1371600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6"/>
          <p:cNvSpPr/>
          <p:nvPr/>
        </p:nvSpPr>
        <p:spPr>
          <a:xfrm>
            <a:off x="5715000" y="3511296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7"/>
          <p:cNvSpPr/>
          <p:nvPr/>
        </p:nvSpPr>
        <p:spPr>
          <a:xfrm>
            <a:off x="5715000" y="3291840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8"/>
          <p:cNvSpPr/>
          <p:nvPr/>
        </p:nvSpPr>
        <p:spPr>
          <a:xfrm>
            <a:off x="8421624" y="3511296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Shape 29"/>
          <p:cNvSpPr/>
          <p:nvPr/>
        </p:nvSpPr>
        <p:spPr>
          <a:xfrm>
            <a:off x="8641080" y="3291840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0"/>
          <p:cNvSpPr/>
          <p:nvPr/>
        </p:nvSpPr>
        <p:spPr>
          <a:xfrm>
            <a:off x="502920" y="3639312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F8E6D8"/>
          </a:solidFill>
          <a:ln w="15875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Shape 31"/>
          <p:cNvSpPr/>
          <p:nvPr/>
        </p:nvSpPr>
        <p:spPr>
          <a:xfrm>
            <a:off x="777240" y="3877056"/>
            <a:ext cx="438912" cy="438912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2"/>
          <p:cNvSpPr txBox="1"/>
          <p:nvPr/>
        </p:nvSpPr>
        <p:spPr>
          <a:xfrm>
            <a:off x="777240" y="3877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!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1389888" y="37581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847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แล้วก็วนกลับไปข้อ 1 ไม่รู้จบ</a:t>
            </a:r>
            <a:endParaRPr lang="en-US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1389888" y="412394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5A4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ยิ่งโปรเจกต์ใหญ่ยิ่งหลุด เพราะไม่มีใคร — รวมทั้ง AI — รู้ว่าคำว่า “เสร็จ” แปลว่าอะไร</a:t>
            </a:r>
            <a:endParaRPr lang="en-US" sz="15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196C8290-DE71-8E9B-1380-088B198A5A14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9202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เปลี่ยนช่างได้ เปลี่ยน AI </a:t>
            </a:r>
            <a:r>
              <a:rPr lang="en-US" sz="4000" b="1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ได้</a:t>
            </a: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r>
              <a:rPr lang="en-US" sz="4000" b="1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แต่</a:t>
            </a:r>
            <a:r>
              <a:rPr lang="th-TH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</a:t>
            </a:r>
            <a:r>
              <a:rPr lang="en-US" sz="4000" b="1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บบ</a:t>
            </a:r>
            <a:r>
              <a:rPr lang="th-TH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บ้านยัง</a:t>
            </a:r>
            <a:r>
              <a:rPr lang="en-US" sz="4000" b="1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ต้องอยู่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970372"/>
            <a:ext cx="3931920" cy="2578608"/>
          </a:xfrm>
          <a:prstGeom prst="roundRect">
            <a:avLst>
              <a:gd name="adj" fmla="val 1418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502920" y="970372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502920" y="970372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4215384" y="970372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434840" y="970372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02920" y="3548980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502920" y="3329524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215384" y="3548980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434840" y="3329524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731520" y="10801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ความเข้าใจอยู่แค่ในแชท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858726" y="1455004"/>
            <a:ext cx="2304288" cy="420624"/>
          </a:xfrm>
          <a:prstGeom prst="roundRect">
            <a:avLst>
              <a:gd name="adj" fmla="val 43478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 txBox="1"/>
          <p:nvPr/>
        </p:nvSpPr>
        <p:spPr>
          <a:xfrm>
            <a:off x="2005030" y="1455004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“เพิ่มเสาตรงนี้หน่อย”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1939636"/>
            <a:ext cx="2304288" cy="420624"/>
          </a:xfrm>
          <a:prstGeom prst="roundRect">
            <a:avLst>
              <a:gd name="adj" fmla="val 43478"/>
            </a:avLst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 txBox="1"/>
          <p:nvPr/>
        </p:nvSpPr>
        <p:spPr>
          <a:xfrm>
            <a:off x="877824" y="1939636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“ได้ครับ ทำให้แล้ว”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858726" y="2431748"/>
            <a:ext cx="2304288" cy="420624"/>
          </a:xfrm>
          <a:prstGeom prst="roundRect">
            <a:avLst>
              <a:gd name="adj" fmla="val 43478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 txBox="1"/>
          <p:nvPr/>
        </p:nvSpPr>
        <p:spPr>
          <a:xfrm>
            <a:off x="2005030" y="2431748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“ผนังเอาสีเขียวนะ”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9808" y="2908900"/>
            <a:ext cx="274320" cy="274320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749808" y="2908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8906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47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 เดือนต่อมา — ทำไมถึงมีเสาต้นนี้?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2289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>
                <a:solidFill>
                  <a:srgbClr val="2C4A68"/>
                </a:solidFill>
                <a:latin typeface="TH Sarabun New" pitchFamily="34" charset="0"/>
                <a:cs typeface="TH Sarabun New" pitchFamily="34" charset="-120"/>
              </a:rPr>
              <a:t>ไม่มีใครจำได้ ต้องไล่อ่าน code </a:t>
            </a:r>
            <a:r>
              <a:rPr lang="en-US" sz="1250" dirty="0" err="1">
                <a:solidFill>
                  <a:srgbClr val="2C4A68"/>
                </a:solidFill>
                <a:latin typeface="TH Sarabun New" pitchFamily="34" charset="0"/>
                <a:cs typeface="TH Sarabun New" pitchFamily="34" charset="-120"/>
              </a:rPr>
              <a:t>ใหม่หมดแล้วเดาเองว่าคนเก่าคิดอะไร</a:t>
            </a:r>
            <a:endParaRPr lang="en-US" sz="1250" dirty="0">
              <a:solidFill>
                <a:srgbClr val="2C4A68"/>
              </a:solidFill>
              <a:latin typeface="TH Sarabun New" pitchFamily="34" charset="0"/>
              <a:cs typeface="TH Sarabun New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09160" y="970372"/>
            <a:ext cx="3931920" cy="2578608"/>
          </a:xfrm>
          <a:prstGeom prst="roundRect">
            <a:avLst>
              <a:gd name="adj" fmla="val 1418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709160" y="970372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4709160" y="970372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8421624" y="970372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8641080" y="970372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4709160" y="3548980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4709160" y="3329524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8421624" y="3548980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Shape 30"/>
          <p:cNvSpPr/>
          <p:nvPr/>
        </p:nvSpPr>
        <p:spPr>
          <a:xfrm>
            <a:off x="8641080" y="3329524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 txBox="1"/>
          <p:nvPr/>
        </p:nvSpPr>
        <p:spPr>
          <a:xfrm>
            <a:off x="4937760" y="10801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แบบถูกเก็บไว้ทุกเวอร์ชัน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4937760" y="1445860"/>
            <a:ext cx="3493008" cy="493776"/>
          </a:xfrm>
          <a:prstGeom prst="roundRect">
            <a:avLst>
              <a:gd name="adj" fmla="val 9259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 txBox="1"/>
          <p:nvPr/>
        </p:nvSpPr>
        <p:spPr>
          <a:xfrm>
            <a:off x="5065776" y="1445860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541264" y="1445860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มีเสา C2 เพราะต้องรับพื้นชั้น 2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937760" y="2012788"/>
            <a:ext cx="3493008" cy="493776"/>
          </a:xfrm>
          <a:prstGeom prst="roundRect">
            <a:avLst>
              <a:gd name="adj" fmla="val 9259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 txBox="1"/>
          <p:nvPr/>
        </p:nvSpPr>
        <p:spPr>
          <a:xfrm>
            <a:off x="5065776" y="2012788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541264" y="2012788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ผนังสีเขียว </a:t>
            </a:r>
            <a:r>
              <a:rPr lang="en-US" sz="1350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เพราะลดแสงสะท้อนจอ</a:t>
            </a: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r>
              <a:rPr lang="th-TH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เป็นผนังใช้พักสายตา เวลาทำงานหน้าจอคอมนานๆ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937760" y="2579716"/>
            <a:ext cx="3493008" cy="493776"/>
          </a:xfrm>
          <a:prstGeom prst="roundRect">
            <a:avLst>
              <a:gd name="adj" fmla="val 9259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Shape 42"/>
          <p:cNvSpPr/>
          <p:nvPr/>
        </p:nvSpPr>
        <p:spPr>
          <a:xfrm>
            <a:off x="502920" y="3713709"/>
            <a:ext cx="8138160" cy="960534"/>
          </a:xfrm>
          <a:prstGeom prst="roundRect">
            <a:avLst>
              <a:gd name="adj" fmla="val 7353"/>
            </a:avLst>
          </a:prstGeom>
          <a:solidFill>
            <a:srgbClr val="E9EE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 txBox="1"/>
          <p:nvPr/>
        </p:nvSpPr>
        <p:spPr>
          <a:xfrm>
            <a:off x="5065776" y="2579716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541264" y="2579716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ต่อเติมครัว โดยไม่แตะเสา C2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3714122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 ไม่ได้บอกแค่ว่าบ้านหน้าตายังไง แต่บอกว่า “ทำไม” ถึงเป็นแบบนั้น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ยิ่งสะสม</a:t>
            </a: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spec </a:t>
            </a: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ไว้มาก</a:t>
            </a: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ยิ่งย้อนอ่านความเป็นมาได้</a:t>
            </a: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r>
              <a:rPr lang="en-US" sz="1450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แล้วเขียนแบบใหม่ต่อได้โดยไม่กระทบโครงสร้างเดิม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4937760" y="316493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4A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ทีมใหม่ / AI รุ่นใหม่ อ่านย้อนได้ทั้งหมด แล้วต่อยอดโดยไม่พังของเดิม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42987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developer </a:t>
            </a:r>
            <a:r>
              <a:rPr lang="en-US" sz="1600" b="1" dirty="0" err="1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เปลี่ยน</a:t>
            </a:r>
            <a:r>
              <a:rPr lang="en-US" sz="1600" b="1" dirty="0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 AI </a:t>
            </a:r>
            <a:r>
              <a:rPr lang="en-US" sz="1600" b="1" dirty="0" err="1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เก่งขึ้นเรื่อย</a:t>
            </a:r>
            <a:r>
              <a:rPr lang="en-US" sz="1600" b="1" dirty="0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 </a:t>
            </a:r>
            <a:r>
              <a:rPr lang="en-US" sz="1600" b="1" dirty="0" err="1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ๆ</a:t>
            </a:r>
            <a:r>
              <a:rPr lang="en-US" sz="1600" b="1" dirty="0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 — </a:t>
            </a:r>
            <a:r>
              <a:rPr lang="en-US" sz="1600" b="1" dirty="0" err="1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สิ่งที่อยู่ต่อคือ</a:t>
            </a:r>
            <a:r>
              <a:rPr lang="en-US" sz="1600" b="1" dirty="0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 spec </a:t>
            </a:r>
            <a:r>
              <a:rPr lang="en-US" sz="1600" b="1" dirty="0" err="1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ที่บันทึกไว้ว่า</a:t>
            </a:r>
            <a:r>
              <a:rPr lang="en-US" sz="1600" b="1" dirty="0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 “</a:t>
            </a:r>
            <a:r>
              <a:rPr lang="en-US" sz="1600" b="1" dirty="0" err="1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ทำไม</a:t>
            </a:r>
            <a:r>
              <a:rPr lang="en-US" sz="1600" b="1" dirty="0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” </a:t>
            </a:r>
            <a:r>
              <a:rPr lang="en-US" sz="1600" b="1" dirty="0" err="1">
                <a:solidFill>
                  <a:srgbClr val="DE6B2F"/>
                </a:solidFill>
                <a:latin typeface="TH Sarabun New" pitchFamily="34" charset="0"/>
                <a:cs typeface="TH Sarabun New" pitchFamily="34" charset="-120"/>
              </a:rPr>
              <a:t>บ้านถึงเป็นแบบนี้</a:t>
            </a:r>
            <a:endParaRPr lang="en-US" sz="1600" b="1" dirty="0">
              <a:solidFill>
                <a:srgbClr val="DE6B2F"/>
              </a:solidFill>
              <a:latin typeface="TH Sarabun New" pitchFamily="34" charset="0"/>
              <a:cs typeface="TH Sarabun New" pitchFamily="34" charset="-120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B829A010-1103-8399-8511-CAC5C248EA19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Prompt ปกติ  vs  Spec-Driven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ต่างกันที่ “เริ่มจากอะไร” และ “อะไรคือของจริงที่ยึดถือ”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3931920" cy="3200400"/>
          </a:xfrm>
          <a:prstGeom prst="roundRect">
            <a:avLst>
              <a:gd name="adj" fmla="val 1143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4215384" y="1353312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434840" y="1353312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02920" y="4553712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502920" y="4334256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215384" y="4553712"/>
            <a:ext cx="219456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434840" y="4334256"/>
            <a:ext cx="0" cy="219456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709160" y="1353312"/>
            <a:ext cx="3931920" cy="3200400"/>
          </a:xfrm>
          <a:prstGeom prst="roundRect">
            <a:avLst>
              <a:gd name="adj" fmla="val 1143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709160" y="1353312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4709160" y="1353312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8421624" y="1353312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8641080" y="1353312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709160" y="4553712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709160" y="4334256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421624" y="4553712"/>
            <a:ext cx="219456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8641080" y="4334256"/>
            <a:ext cx="0" cy="219456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777240" y="15727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Prompt ปกติ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15727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SPEC-DRIVEN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2066544"/>
            <a:ext cx="34015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เริ่มที่ code ทันที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ความต้องการอยู่ในหัว / ในแชท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สิ่งที่ไม่ได้บอก AI เดาเอง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ย้อนไม่ได้ว่าทำไมถึงทำแบบนั้น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เปลี่ยนคน เปลี่ยน AI แล้วเริ่มนับหนึ่งใหม่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2066544"/>
            <a:ext cx="34015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เริ่มที่ spec ที่เขียนไว้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ความต้องการเป็นไฟล์ที่อ่าน–แก้ได้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จุดคลุมเครือถูกถามกลับ</a:t>
            </a:r>
            <a:r>
              <a:rPr lang="th-TH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แก้ไฟล์ </a:t>
            </a:r>
            <a:r>
              <a:rPr lang="en-US" sz="1650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ก่อนลงมือ</a:t>
            </a:r>
            <a:r>
              <a:rPr lang="th-TH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ย้อนอ่านได้ว่าทำไมถึงทำแบบนั้น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เปลี่ยนคน เปลี่ยน AI </a:t>
            </a:r>
            <a:r>
              <a:rPr lang="en-US" sz="1650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ก็ทำต่อได้เลย</a:t>
            </a:r>
            <a:r>
              <a:rPr lang="en-US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r>
              <a:rPr lang="th-TH" sz="16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เพราะไฟล์ยังอยู่</a:t>
            </a:r>
            <a:endParaRPr lang="en-US" sz="16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862A3F30-F49C-B77A-5112-9B62489873D2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หัวใจของ SDD มี 5 ข้อ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 5 ข้อนี้ได้ ก็ใช้เครื่องมืออะไรก็ได้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3931920" cy="1170432"/>
          </a:xfrm>
          <a:prstGeom prst="roundRect">
            <a:avLst>
              <a:gd name="adj" fmla="val 3125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740664" y="1481328"/>
            <a:ext cx="384048" cy="384048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740664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435608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 คือของจริง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85623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 code ไม่ตรง spec แปลว่า code ผิด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ไม่ใช่ spec ผิด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709160" y="1316736"/>
            <a:ext cx="3931920" cy="1170432"/>
          </a:xfrm>
          <a:prstGeom prst="roundRect">
            <a:avLst>
              <a:gd name="adj" fmla="val 3125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946904" y="1481328"/>
            <a:ext cx="384048" cy="384048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4946904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58968" y="1435608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แยก “อะไร” ออกจาก “ยังไง”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5458968" y="185623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บอกเป้าหมายให้จบก่อน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ค่อยเลือกภาษา / เครื่องมือ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596896"/>
            <a:ext cx="3931920" cy="1170432"/>
          </a:xfrm>
          <a:prstGeom prst="roundRect">
            <a:avLst>
              <a:gd name="adj" fmla="val 3125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40664" y="2761488"/>
            <a:ext cx="384048" cy="384048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740664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2715768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ค่อย ๆ กลั่น ไม่ยิงทีเดียวจบ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313639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 » plan » tasks » code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ตรวจได้ทุกช่วง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709160" y="2596896"/>
            <a:ext cx="3931920" cy="1170432"/>
          </a:xfrm>
          <a:prstGeom prst="roundRect">
            <a:avLst>
              <a:gd name="adj" fmla="val 3125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4946904" y="2761488"/>
            <a:ext cx="384048" cy="384048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4946904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58968" y="2715768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 constitution ประจำโปรเจกต์</a:t>
            </a:r>
            <a:endParaRPr lang="en-US" sz="1750" dirty="0"/>
          </a:p>
        </p:txBody>
      </p:sp>
      <p:sp>
        <p:nvSpPr>
          <p:cNvPr id="23" name="Text 21"/>
          <p:cNvSpPr txBox="1"/>
          <p:nvPr/>
        </p:nvSpPr>
        <p:spPr>
          <a:xfrm>
            <a:off x="5458968" y="313639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กติกากลางที่คุมมาตรฐาน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ให้ทุกขั้นไปทางเดียวกัน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02920" y="3877056"/>
            <a:ext cx="8138160" cy="768096"/>
          </a:xfrm>
          <a:prstGeom prst="roundRect">
            <a:avLst>
              <a:gd name="adj" fmla="val 5952"/>
            </a:avLst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731520" y="4059936"/>
            <a:ext cx="402336" cy="402336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731520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3968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 คือความทรงจำของโปรเจกต์</a:t>
            </a:r>
            <a:endParaRPr lang="en-US" sz="175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4315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2E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เปลี่ยนคน เปลี่ยน AI ได้ เพราะเหตุผลทั้งหมดถูกบันทึกไว้ — ไม่ต้องไล่เดาจาก code ว่าคนเก่าคิดอะไร</a:t>
            </a:r>
            <a:endParaRPr lang="en-US" sz="14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D4221A4-42FF-3C41-2F56-5E8E23112D90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ภาพรวม: 6 ขั้นตอน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40971" y="1138428"/>
            <a:ext cx="7406640" cy="0"/>
          </a:xfrm>
          <a:prstGeom prst="line">
            <a:avLst/>
          </a:prstGeom>
          <a:noFill/>
          <a:ln w="25400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584939" y="882396"/>
            <a:ext cx="512064" cy="512064"/>
          </a:xfrm>
          <a:prstGeom prst="ellipse">
            <a:avLst/>
          </a:prstGeom>
          <a:solidFill>
            <a:srgbClr val="1C3349"/>
          </a:solidFill>
          <a:ln w="38100">
            <a:solidFill>
              <a:srgbClr val="F3F3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584939" y="8823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451" y="14676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constitution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451" y="17236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4A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มาตรฐานงานก่อสร้าง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66267" y="882396"/>
            <a:ext cx="512064" cy="512064"/>
          </a:xfrm>
          <a:prstGeom prst="ellipse">
            <a:avLst/>
          </a:prstGeom>
          <a:solidFill>
            <a:srgbClr val="1C3349"/>
          </a:solidFill>
          <a:ln w="38100">
            <a:solidFill>
              <a:srgbClr val="F3F3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2066267" y="8823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90779" y="14676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590779" y="17236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4A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โจทย์เจ้าของบ้าน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47595" y="882396"/>
            <a:ext cx="512064" cy="512064"/>
          </a:xfrm>
          <a:prstGeom prst="ellipse">
            <a:avLst/>
          </a:prstGeom>
          <a:solidFill>
            <a:srgbClr val="1C3349"/>
          </a:solidFill>
          <a:ln w="38100">
            <a:solidFill>
              <a:srgbClr val="F3F3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 txBox="1"/>
          <p:nvPr/>
        </p:nvSpPr>
        <p:spPr>
          <a:xfrm>
            <a:off x="3547595" y="8823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72107" y="14676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072107" y="17236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4A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แบบก่อสร้าง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8923" y="882396"/>
            <a:ext cx="512064" cy="512064"/>
          </a:xfrm>
          <a:prstGeom prst="ellipse">
            <a:avLst/>
          </a:prstGeom>
          <a:solidFill>
            <a:srgbClr val="1C3349"/>
          </a:solidFill>
          <a:ln w="38100">
            <a:solidFill>
              <a:srgbClr val="F3F3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5028923" y="8823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53435" y="14676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53435" y="17236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4A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ใบสั่งงานช่าง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0251" y="882396"/>
            <a:ext cx="512064" cy="512064"/>
          </a:xfrm>
          <a:prstGeom prst="ellipse">
            <a:avLst/>
          </a:prstGeom>
          <a:solidFill>
            <a:srgbClr val="DE6B2F"/>
          </a:solidFill>
          <a:ln w="38100">
            <a:solidFill>
              <a:srgbClr val="F3F3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6510251" y="8823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034763" y="14676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34763" y="17236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4A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ลงมือสร้าง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91579" y="882396"/>
            <a:ext cx="512064" cy="512064"/>
          </a:xfrm>
          <a:prstGeom prst="ellipse">
            <a:avLst/>
          </a:prstGeom>
          <a:solidFill>
            <a:srgbClr val="DE6B2F"/>
          </a:solidFill>
          <a:ln w="38100">
            <a:solidFill>
              <a:srgbClr val="F3F3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7991579" y="8823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516091" y="14676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516091" y="17236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4A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ตรวจรับงาน</a:t>
            </a:r>
            <a:endParaRPr lang="en-US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F682E4D-08FD-3CCB-6C4C-F57471023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309" y="2112264"/>
            <a:ext cx="4190673" cy="2912351"/>
          </a:xfrm>
          <a:prstGeom prst="rect">
            <a:avLst/>
          </a:prstGeom>
        </p:spPr>
      </p:pic>
      <p:sp>
        <p:nvSpPr>
          <p:cNvPr id="42" name="Text 20">
            <a:extLst>
              <a:ext uri="{FF2B5EF4-FFF2-40B4-BE49-F238E27FC236}">
                <a16:creationId xmlns:a16="http://schemas.microsoft.com/office/drawing/2014/main" id="{D4B4AAD2-3E7C-FEDF-32F6-2535A1B949E9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 0–2 : วางแผนก่อนสร้าง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สามคำสั่งนี้ยังไม่มี code สักบรรทัด — แต่เป็นช่วงที่สำคัญที่สุด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5440680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694944" y="1645920"/>
            <a:ext cx="384048" cy="384048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69494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07008" y="1444752"/>
            <a:ext cx="2331720" cy="292608"/>
          </a:xfrm>
          <a:prstGeom prst="roundRect">
            <a:avLst>
              <a:gd name="adj" fmla="val 12500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1207008" y="14447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/speckit.constitution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755648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ตั้ง constitution ของโปรเจกต์ ทำครั้งเดียวตอนเริ่ม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029968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ตัวอย่าง: “เน้น code อ่านง่าย </a:t>
            </a:r>
            <a:r>
              <a:rPr lang="en-US" sz="1350" dirty="0" err="1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ทุกฟีเจอร์ต้องมีเทสต์</a:t>
            </a: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และ </a:t>
            </a: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UI 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แต่ละหน้าต้องสอดคล้องกัน</a:t>
            </a: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5440680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694944" y="2779776"/>
            <a:ext cx="384048" cy="384048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694944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07008" y="2578608"/>
            <a:ext cx="2331720" cy="292608"/>
          </a:xfrm>
          <a:prstGeom prst="roundRect">
            <a:avLst>
              <a:gd name="adj" fmla="val 12500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 txBox="1"/>
          <p:nvPr/>
        </p:nvSpPr>
        <p:spPr>
          <a:xfrm>
            <a:off x="1207008" y="25786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/speckit.specify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2889504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 spec ว่าจะทำ อะไร และ ทำไม ห้ามพูดถึงเทคโนโลยี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163824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ตัวอย่าง: “ทำเว็บจัดอัลบั้มรูป </a:t>
            </a:r>
            <a:r>
              <a:rPr lang="en-US" sz="1350" dirty="0" err="1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ลากสลับอัลบั้มได้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แบ่งอัลบั้มตามวันที่ </a:t>
            </a: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upload 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รูปต้องแสดง</a:t>
            </a: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5440680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694944" y="3913632"/>
            <a:ext cx="384048" cy="384048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 txBox="1"/>
          <p:nvPr/>
        </p:nvSpPr>
        <p:spPr>
          <a:xfrm>
            <a:off x="694944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07008" y="3712464"/>
            <a:ext cx="2331720" cy="292608"/>
          </a:xfrm>
          <a:prstGeom prst="roundRect">
            <a:avLst>
              <a:gd name="adj" fmla="val 12500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1207008" y="37124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/speckit.plan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0233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 plan ว่าจะทำ ยังไง เลือกภาษา เครื่องมือ โครงสร้าง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429768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ตัวอย่าง: “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 </a:t>
            </a: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HTML/CSS/JavaScript 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ใน</a:t>
            </a:r>
            <a:r>
              <a:rPr lang="th-TH" sz="1350" dirty="0" err="1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เบ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ราว</a:t>
            </a:r>
            <a:r>
              <a:rPr lang="th-TH" sz="1350" dirty="0" err="1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์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เซอร์สามารถทำได้ผ่านระบบ </a:t>
            </a: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Local Storage</a:t>
            </a:r>
            <a:r>
              <a:rPr lang="th-TH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หรือใช้ </a:t>
            </a: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SQLite”</a:t>
            </a:r>
            <a:endParaRPr lang="en-US" sz="13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F3A9CA0-3A97-B94F-FC22-A594CF3868DE}"/>
              </a:ext>
            </a:extLst>
          </p:cNvPr>
          <p:cNvGrpSpPr/>
          <p:nvPr/>
        </p:nvGrpSpPr>
        <p:grpSpPr>
          <a:xfrm>
            <a:off x="6452062" y="1461932"/>
            <a:ext cx="182880" cy="182880"/>
            <a:chOff x="6324600" y="1728216"/>
            <a:chExt cx="182880" cy="182880"/>
          </a:xfrm>
        </p:grpSpPr>
        <p:sp>
          <p:nvSpPr>
            <p:cNvPr id="26" name="Shape 23"/>
            <p:cNvSpPr/>
            <p:nvPr/>
          </p:nvSpPr>
          <p:spPr>
            <a:xfrm>
              <a:off x="6324600" y="1728216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7" name="Shape 24"/>
            <p:cNvSpPr/>
            <p:nvPr/>
          </p:nvSpPr>
          <p:spPr>
            <a:xfrm>
              <a:off x="6324600" y="1728216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5D9A1B-B8CB-CAEF-A2C9-13BC21D24A3D}"/>
              </a:ext>
            </a:extLst>
          </p:cNvPr>
          <p:cNvGrpSpPr/>
          <p:nvPr/>
        </p:nvGrpSpPr>
        <p:grpSpPr>
          <a:xfrm>
            <a:off x="8476488" y="1465811"/>
            <a:ext cx="182880" cy="182880"/>
            <a:chOff x="8564880" y="1728216"/>
            <a:chExt cx="182880" cy="182880"/>
          </a:xfrm>
        </p:grpSpPr>
        <p:sp>
          <p:nvSpPr>
            <p:cNvPr id="28" name="Shape 25"/>
            <p:cNvSpPr/>
            <p:nvPr/>
          </p:nvSpPr>
          <p:spPr>
            <a:xfrm>
              <a:off x="8564880" y="1728216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9" name="Shape 26"/>
            <p:cNvSpPr/>
            <p:nvPr/>
          </p:nvSpPr>
          <p:spPr>
            <a:xfrm>
              <a:off x="8747760" y="1728216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AD1BFD-0735-0EB0-0A50-AE38C3568647}"/>
              </a:ext>
            </a:extLst>
          </p:cNvPr>
          <p:cNvGrpSpPr/>
          <p:nvPr/>
        </p:nvGrpSpPr>
        <p:grpSpPr>
          <a:xfrm>
            <a:off x="6452062" y="4097618"/>
            <a:ext cx="182880" cy="182880"/>
            <a:chOff x="6324600" y="3799438"/>
            <a:chExt cx="182880" cy="182880"/>
          </a:xfrm>
        </p:grpSpPr>
        <p:sp>
          <p:nvSpPr>
            <p:cNvPr id="30" name="Shape 27"/>
            <p:cNvSpPr/>
            <p:nvPr/>
          </p:nvSpPr>
          <p:spPr>
            <a:xfrm>
              <a:off x="6324600" y="3982318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1" name="Shape 28"/>
            <p:cNvSpPr/>
            <p:nvPr/>
          </p:nvSpPr>
          <p:spPr>
            <a:xfrm>
              <a:off x="6324600" y="3799438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1809368-2C84-7FD3-16B7-D9BACB7729AA}"/>
              </a:ext>
            </a:extLst>
          </p:cNvPr>
          <p:cNvGrpSpPr/>
          <p:nvPr/>
        </p:nvGrpSpPr>
        <p:grpSpPr>
          <a:xfrm>
            <a:off x="8476488" y="4105656"/>
            <a:ext cx="182880" cy="182880"/>
            <a:chOff x="8564880" y="3799438"/>
            <a:chExt cx="182880" cy="182880"/>
          </a:xfrm>
        </p:grpSpPr>
        <p:sp>
          <p:nvSpPr>
            <p:cNvPr id="32" name="Shape 29"/>
            <p:cNvSpPr/>
            <p:nvPr/>
          </p:nvSpPr>
          <p:spPr>
            <a:xfrm>
              <a:off x="8564880" y="3982318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3" name="Shape 30"/>
            <p:cNvSpPr/>
            <p:nvPr/>
          </p:nvSpPr>
          <p:spPr>
            <a:xfrm>
              <a:off x="8747760" y="3799438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6C5FFFA-B501-6510-5C0B-968DE8EDEF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41" t="6600" r="6020" b="1010"/>
          <a:stretch>
            <a:fillRect/>
          </a:stretch>
        </p:blipFill>
        <p:spPr>
          <a:xfrm>
            <a:off x="6470836" y="1518458"/>
            <a:ext cx="2151471" cy="2705515"/>
          </a:xfrm>
          <a:prstGeom prst="rect">
            <a:avLst/>
          </a:prstGeom>
        </p:spPr>
      </p:pic>
      <p:sp>
        <p:nvSpPr>
          <p:cNvPr id="40" name="Text 20">
            <a:extLst>
              <a:ext uri="{FF2B5EF4-FFF2-40B4-BE49-F238E27FC236}">
                <a16:creationId xmlns:a16="http://schemas.microsoft.com/office/drawing/2014/main" id="{1235DD4E-0607-4E12-8C55-0D20B272DEE5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 3–5 : ลงมือและตรวจ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ช่วงนี้ AI ทำงานหนัก ส่วนเราคอยตรวจว่าตรงกับ spec ไหม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5440680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694944" y="1645920"/>
            <a:ext cx="384048" cy="384048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69494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07008" y="1444752"/>
            <a:ext cx="2331720" cy="292608"/>
          </a:xfrm>
          <a:prstGeom prst="roundRect">
            <a:avLst>
              <a:gd name="adj" fmla="val 12500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1207008" y="14447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/speckit.tasks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755648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แตก plan ออกเป็น tasks ย่อย เรียงว่าอะไรก่อนหลัง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029968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ได้ไฟล์ tasks.md เป็นเช็กลิสต์ที่ติ๊กได้ทีละข้อ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5440680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694944" y="2779776"/>
            <a:ext cx="384048" cy="384048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694944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07008" y="2578608"/>
            <a:ext cx="2331720" cy="292608"/>
          </a:xfrm>
          <a:prstGeom prst="roundRect">
            <a:avLst>
              <a:gd name="adj" fmla="val 12500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 txBox="1"/>
          <p:nvPr/>
        </p:nvSpPr>
        <p:spPr>
          <a:xfrm>
            <a:off x="1207008" y="25786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/speckit.implement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2889504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 AI ลงมือเขียน code ไล่ทำตาม tasks ทีละข้อ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163824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code จริงเกิดตรงนี้ เพราะเราบอกไว้หมดแล้ว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5440680" cy="1024128"/>
          </a:xfrm>
          <a:prstGeom prst="roundRect">
            <a:avLst>
              <a:gd name="adj" fmla="val 3571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694944" y="3913632"/>
            <a:ext cx="384048" cy="384048"/>
          </a:xfrm>
          <a:prstGeom prst="ellipse">
            <a:avLst/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 txBox="1"/>
          <p:nvPr/>
        </p:nvSpPr>
        <p:spPr>
          <a:xfrm>
            <a:off x="694944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3E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07008" y="3712464"/>
            <a:ext cx="2331720" cy="292608"/>
          </a:xfrm>
          <a:prstGeom prst="roundRect">
            <a:avLst>
              <a:gd name="adj" fmla="val 12500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1207008" y="37124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/speckit.converge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0233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เทียบ code จริงกับ spec แล้วเพิ่ม tasks ที่ยังขาดให้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429768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ถ้ายังไม่ครบ จะเติม tasks ใหม่แล้วกลับไปทำข้อ 4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217920" y="1511748"/>
            <a:ext cx="182880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4"/>
          <p:cNvSpPr/>
          <p:nvPr/>
        </p:nvSpPr>
        <p:spPr>
          <a:xfrm>
            <a:off x="6217920" y="1511748"/>
            <a:ext cx="0" cy="18288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F0FD58-C194-23CD-746F-E5A452F7966F}"/>
              </a:ext>
            </a:extLst>
          </p:cNvPr>
          <p:cNvGrpSpPr/>
          <p:nvPr/>
        </p:nvGrpSpPr>
        <p:grpSpPr>
          <a:xfrm>
            <a:off x="8618912" y="1520278"/>
            <a:ext cx="182880" cy="182880"/>
            <a:chOff x="8458200" y="1511748"/>
            <a:chExt cx="182880" cy="182880"/>
          </a:xfrm>
        </p:grpSpPr>
        <p:sp>
          <p:nvSpPr>
            <p:cNvPr id="28" name="Shape 25"/>
            <p:cNvSpPr/>
            <p:nvPr/>
          </p:nvSpPr>
          <p:spPr>
            <a:xfrm>
              <a:off x="8458200" y="1511748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9" name="Shape 26"/>
            <p:cNvSpPr/>
            <p:nvPr/>
          </p:nvSpPr>
          <p:spPr>
            <a:xfrm>
              <a:off x="8641080" y="1511748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30" name="Shape 27"/>
          <p:cNvSpPr/>
          <p:nvPr/>
        </p:nvSpPr>
        <p:spPr>
          <a:xfrm>
            <a:off x="6217920" y="3663756"/>
            <a:ext cx="182880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8"/>
          <p:cNvSpPr/>
          <p:nvPr/>
        </p:nvSpPr>
        <p:spPr>
          <a:xfrm>
            <a:off x="6217920" y="3480876"/>
            <a:ext cx="0" cy="18288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A78F691-2EB1-F5E0-279A-AA119D672BBD}"/>
              </a:ext>
            </a:extLst>
          </p:cNvPr>
          <p:cNvGrpSpPr/>
          <p:nvPr/>
        </p:nvGrpSpPr>
        <p:grpSpPr>
          <a:xfrm>
            <a:off x="8618912" y="3480876"/>
            <a:ext cx="182880" cy="182880"/>
            <a:chOff x="8458200" y="3480876"/>
            <a:chExt cx="182880" cy="182880"/>
          </a:xfrm>
        </p:grpSpPr>
        <p:sp>
          <p:nvSpPr>
            <p:cNvPr id="32" name="Shape 29"/>
            <p:cNvSpPr/>
            <p:nvPr/>
          </p:nvSpPr>
          <p:spPr>
            <a:xfrm>
              <a:off x="8458200" y="3663756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3" name="Shape 30"/>
            <p:cNvSpPr/>
            <p:nvPr/>
          </p:nvSpPr>
          <p:spPr>
            <a:xfrm>
              <a:off x="8641080" y="3480876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8F13AB17-B970-DBF1-A46D-403F59036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55559"/>
            <a:ext cx="2583872" cy="1664386"/>
          </a:xfrm>
          <a:prstGeom prst="rect">
            <a:avLst/>
          </a:prstGeom>
        </p:spPr>
      </p:pic>
      <p:sp>
        <p:nvSpPr>
          <p:cNvPr id="38" name="Text 20">
            <a:extLst>
              <a:ext uri="{FF2B5EF4-FFF2-40B4-BE49-F238E27FC236}">
                <a16:creationId xmlns:a16="http://schemas.microsoft.com/office/drawing/2014/main" id="{DD270EFC-FE93-0EAE-50AA-12DE81120350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คำสั่งเสริม ใช้เมื่อไหร่ก็ได้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ไม่บังคับ แต่ช่วยให้ spec แน่นขึ้นมาก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5440680" cy="713232"/>
          </a:xfrm>
          <a:prstGeom prst="roundRect">
            <a:avLst>
              <a:gd name="adj" fmla="val 5128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676656" y="1426464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676656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/speckit.clarify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4081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 AI ถามกลับจุดที่ spec ยังคลุมเครือ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ใช้ก่อน /speckit.plan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5440680" cy="713232"/>
          </a:xfrm>
          <a:prstGeom prst="roundRect">
            <a:avLst>
              <a:gd name="adj" fmla="val 5128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76656" y="2212848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676656" y="2212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/speckit.analyze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889504" y="2194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ตรวจว่า spec – plan – tasks ตรงกันไหม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523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ใช้ก่อน /speckit.implement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907792"/>
            <a:ext cx="5440680" cy="713232"/>
          </a:xfrm>
          <a:prstGeom prst="roundRect">
            <a:avLst>
              <a:gd name="adj" fmla="val 5128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676656" y="2999232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676656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/speckit.checklist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889504" y="29809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สร้างเช็กลิสต์คุณภาพของตัว spec เอง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310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เหมือน “ยูนิตเทสต์ของภาษาคน”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694176"/>
            <a:ext cx="5440680" cy="713232"/>
          </a:xfrm>
          <a:prstGeom prst="roundRect">
            <a:avLst>
              <a:gd name="adj" fmla="val 5128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676656" y="3785616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E9EEF5"/>
          </a:solidFill>
          <a:ln w="12700">
            <a:solidFill>
              <a:srgbClr val="1C334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676656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3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/speckit.taskstoissues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889504" y="3767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แปลง tasks เป็น GitHub Issues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096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เหมาะเวลาทำงานเป็นทีม</a:t>
            </a:r>
            <a:endParaRPr lang="en-US" sz="13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59D09F1-AC62-1690-D8F2-3323A629D8B5}"/>
              </a:ext>
            </a:extLst>
          </p:cNvPr>
          <p:cNvGrpSpPr/>
          <p:nvPr/>
        </p:nvGrpSpPr>
        <p:grpSpPr>
          <a:xfrm>
            <a:off x="6230529" y="1261872"/>
            <a:ext cx="182880" cy="182880"/>
            <a:chOff x="6217920" y="1572768"/>
            <a:chExt cx="182880" cy="182880"/>
          </a:xfrm>
        </p:grpSpPr>
        <p:sp>
          <p:nvSpPr>
            <p:cNvPr id="25" name="Shape 22"/>
            <p:cNvSpPr/>
            <p:nvPr/>
          </p:nvSpPr>
          <p:spPr>
            <a:xfrm>
              <a:off x="6217920" y="1572768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6" name="Shape 23"/>
            <p:cNvSpPr/>
            <p:nvPr/>
          </p:nvSpPr>
          <p:spPr>
            <a:xfrm>
              <a:off x="6217920" y="1572768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BA82A5-C87E-1D54-6EBD-421520E72342}"/>
              </a:ext>
            </a:extLst>
          </p:cNvPr>
          <p:cNvGrpSpPr/>
          <p:nvPr/>
        </p:nvGrpSpPr>
        <p:grpSpPr>
          <a:xfrm>
            <a:off x="8461525" y="1215417"/>
            <a:ext cx="182880" cy="182880"/>
            <a:chOff x="8458200" y="1572768"/>
            <a:chExt cx="182880" cy="182880"/>
          </a:xfrm>
        </p:grpSpPr>
        <p:sp>
          <p:nvSpPr>
            <p:cNvPr id="27" name="Shape 24"/>
            <p:cNvSpPr/>
            <p:nvPr/>
          </p:nvSpPr>
          <p:spPr>
            <a:xfrm>
              <a:off x="8458200" y="1572768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8" name="Shape 25"/>
            <p:cNvSpPr/>
            <p:nvPr/>
          </p:nvSpPr>
          <p:spPr>
            <a:xfrm>
              <a:off x="8641080" y="1572768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60F684F-B94D-23F6-C92D-C8A61044FDC7}"/>
              </a:ext>
            </a:extLst>
          </p:cNvPr>
          <p:cNvGrpSpPr/>
          <p:nvPr/>
        </p:nvGrpSpPr>
        <p:grpSpPr>
          <a:xfrm>
            <a:off x="6235588" y="3539495"/>
            <a:ext cx="182880" cy="182880"/>
            <a:chOff x="6217920" y="2943196"/>
            <a:chExt cx="182880" cy="182880"/>
          </a:xfrm>
        </p:grpSpPr>
        <p:sp>
          <p:nvSpPr>
            <p:cNvPr id="29" name="Shape 26"/>
            <p:cNvSpPr/>
            <p:nvPr/>
          </p:nvSpPr>
          <p:spPr>
            <a:xfrm>
              <a:off x="6217920" y="3126076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0" name="Shape 27"/>
            <p:cNvSpPr/>
            <p:nvPr/>
          </p:nvSpPr>
          <p:spPr>
            <a:xfrm>
              <a:off x="6217920" y="2943196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E0B058B-D139-DC8F-0470-EBD3AD6CA729}"/>
              </a:ext>
            </a:extLst>
          </p:cNvPr>
          <p:cNvGrpSpPr/>
          <p:nvPr/>
        </p:nvGrpSpPr>
        <p:grpSpPr>
          <a:xfrm>
            <a:off x="8465404" y="3539495"/>
            <a:ext cx="182880" cy="182880"/>
            <a:chOff x="8458200" y="2943196"/>
            <a:chExt cx="182880" cy="182880"/>
          </a:xfrm>
        </p:grpSpPr>
        <p:sp>
          <p:nvSpPr>
            <p:cNvPr id="31" name="Shape 28"/>
            <p:cNvSpPr/>
            <p:nvPr/>
          </p:nvSpPr>
          <p:spPr>
            <a:xfrm>
              <a:off x="8458200" y="3126076"/>
              <a:ext cx="182880" cy="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2" name="Shape 29"/>
            <p:cNvSpPr/>
            <p:nvPr/>
          </p:nvSpPr>
          <p:spPr>
            <a:xfrm>
              <a:off x="8641080" y="2943196"/>
              <a:ext cx="0" cy="182880"/>
            </a:xfrm>
            <a:prstGeom prst="line">
              <a:avLst/>
            </a:prstGeom>
            <a:noFill/>
            <a:ln w="25400">
              <a:solidFill>
                <a:srgbClr val="6E8299"/>
              </a:solidFill>
              <a:prstDash val="solid"/>
            </a:ln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33" name="Text 30"/>
          <p:cNvSpPr txBox="1"/>
          <p:nvPr/>
        </p:nvSpPr>
        <p:spPr>
          <a:xfrm>
            <a:off x="6217920" y="3782845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หมายเหตุ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บน Claude Code คำสั่งพวกนี้ เป็น skill และเขียนด้วยขีดกลาง เช่น speckit-specify</a:t>
            </a: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E8212117-24D6-C6AA-74DE-38B0EABDE527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9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0BEB1F5-3D5E-479F-E55A-B50CF3CD5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9" y="1306858"/>
            <a:ext cx="2112263" cy="22931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21208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ต้องมี Python 3.11+, Git และ uv ติดตั้งไว้ก่อน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30352" y="1554480"/>
            <a:ext cx="420624" cy="420624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530352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716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ติดตั้งเครื่องมือ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15568" y="173736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1261872" y="1737360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tool install specify-cli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2523744"/>
            <a:ext cx="420624" cy="420624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530352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3408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สร้างโปรเจกต์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115568" y="2706624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1261872" y="2706624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specify init my-project --integration claude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3493008"/>
            <a:ext cx="420624" cy="420624"/>
          </a:xfrm>
          <a:prstGeom prst="ellipse">
            <a:avLst/>
          </a:prstGeom>
          <a:solidFill>
            <a:srgbClr val="DE6B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 txBox="1"/>
          <p:nvPr/>
        </p:nvSpPr>
        <p:spPr>
          <a:xfrm>
            <a:off x="530352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310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 AI agent แล้วพิมพ์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1115568" y="3675888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1C3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1261872" y="3675888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/speckit.constitution  »  /speckit.specify  »  ...</a:t>
            </a:r>
            <a:endParaRPr lang="en-US" sz="1000" dirty="0"/>
          </a:p>
        </p:txBody>
      </p:sp>
      <p:pic>
        <p:nvPicPr>
          <p:cNvPr id="19" name="Image 0" descr="img/pho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914422"/>
            <a:ext cx="3627579" cy="2058785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486400" y="1914422"/>
            <a:ext cx="200345" cy="1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8"/>
          <p:cNvSpPr/>
          <p:nvPr/>
        </p:nvSpPr>
        <p:spPr>
          <a:xfrm>
            <a:off x="5486400" y="1914422"/>
            <a:ext cx="1" cy="219853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19"/>
          <p:cNvSpPr/>
          <p:nvPr/>
        </p:nvSpPr>
        <p:spPr>
          <a:xfrm>
            <a:off x="8321040" y="1914422"/>
            <a:ext cx="200345" cy="1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8503920" y="1914422"/>
            <a:ext cx="1" cy="219853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1"/>
          <p:cNvSpPr/>
          <p:nvPr/>
        </p:nvSpPr>
        <p:spPr>
          <a:xfrm>
            <a:off x="5486400" y="3626976"/>
            <a:ext cx="200345" cy="1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2"/>
          <p:cNvSpPr/>
          <p:nvPr/>
        </p:nvSpPr>
        <p:spPr>
          <a:xfrm>
            <a:off x="5486400" y="3444096"/>
            <a:ext cx="1" cy="219853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3"/>
          <p:cNvSpPr/>
          <p:nvPr/>
        </p:nvSpPr>
        <p:spPr>
          <a:xfrm>
            <a:off x="8458200" y="3449914"/>
            <a:ext cx="182880" cy="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4"/>
          <p:cNvSpPr/>
          <p:nvPr/>
        </p:nvSpPr>
        <p:spPr>
          <a:xfrm>
            <a:off x="8641080" y="3267034"/>
            <a:ext cx="0" cy="182880"/>
          </a:xfrm>
          <a:prstGeom prst="line">
            <a:avLst/>
          </a:prstGeom>
          <a:noFill/>
          <a:ln w="25400">
            <a:solidFill>
              <a:srgbClr val="6E829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5"/>
          <p:cNvSpPr txBox="1"/>
          <p:nvPr/>
        </p:nvSpPr>
        <p:spPr>
          <a:xfrm>
            <a:off x="530352" y="43525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รองรับ AI agent กว่า 30 ตัว — Claude Code, Copilot, Cursor, Gemini CLI, Codex และอื่น ๆ</a:t>
            </a:r>
            <a:endParaRPr lang="en-US" sz="145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2515A346-CBBC-EC4D-964E-05F5E375F9CB}"/>
              </a:ext>
            </a:extLst>
          </p:cNvPr>
          <p:cNvSpPr txBox="1"/>
          <p:nvPr/>
        </p:nvSpPr>
        <p:spPr>
          <a:xfrm>
            <a:off x="8905702" y="4829973"/>
            <a:ext cx="162098" cy="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10</a:t>
            </a: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D98DADDF-DC89-ED2D-9F0C-986A54AD0E2B}"/>
              </a:ext>
            </a:extLst>
          </p:cNvPr>
          <p:cNvSpPr txBox="1"/>
          <p:nvPr/>
        </p:nvSpPr>
        <p:spPr>
          <a:xfrm>
            <a:off x="502920" y="1645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</a:t>
            </a:r>
            <a:r>
              <a:rPr lang="th-TH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ขั้นตอนการ </a:t>
            </a:r>
            <a:r>
              <a:rPr lang="en-US" sz="40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Install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อย่าเริ่มที่</a:t>
            </a:r>
            <a:r>
              <a:rPr lang="en-US" sz="42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code </a:t>
            </a:r>
            <a:r>
              <a:rPr lang="en-US" sz="4200" b="1" dirty="0" err="1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เริ่มที่ความชัดเจน</a:t>
            </a:r>
            <a:r>
              <a:rPr lang="th-TH" sz="42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ก่อน </a:t>
            </a:r>
            <a:r>
              <a:rPr lang="en-US" sz="4200" b="1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!!!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2529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E82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ไม่มีช่างคนไหนขึ้นเสาต้นแรก โดยไม่มีแบบอยู่ในมือ</a:t>
            </a:r>
            <a:endParaRPr lang="en-US" sz="17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8044468-2819-12EB-16AA-CDAAB2A9E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99833"/>
            <a:ext cx="9143999" cy="284366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02920" y="1719072"/>
            <a:ext cx="2651760" cy="896112"/>
          </a:xfrm>
          <a:prstGeom prst="roundRect">
            <a:avLst>
              <a:gd name="adj" fmla="val 4082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2990088" y="1719072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154680" y="171907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02920" y="2615184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2990088" y="2615184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154680" y="245059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667512" y="1810512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spec ชัด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212140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เดาน้อยลง ได้ของตรงใจมากขึ้น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246120" y="1719072"/>
            <a:ext cx="2651760" cy="896112"/>
          </a:xfrm>
          <a:prstGeom prst="roundRect">
            <a:avLst>
              <a:gd name="adj" fmla="val 4082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246120" y="1719072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3246120" y="171907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733288" y="1719072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5897880" y="171907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246120" y="2615184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246120" y="245059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5733288" y="2615184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5897880" y="245059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 txBox="1"/>
          <p:nvPr/>
        </p:nvSpPr>
        <p:spPr>
          <a:xfrm>
            <a:off x="3410712" y="1810512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ทุกขั้นตรวจได้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212140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รู้เสมอว่าเหลืออะไร และทำไปถึงไหน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89320" y="1719072"/>
            <a:ext cx="2651760" cy="896112"/>
          </a:xfrm>
          <a:prstGeom prst="roundRect">
            <a:avLst>
              <a:gd name="adj" fmla="val 4082"/>
            </a:avLst>
          </a:prstGeom>
          <a:solidFill>
            <a:srgbClr val="FAFAF5"/>
          </a:solidFill>
          <a:ln w="15875">
            <a:solidFill>
              <a:srgbClr val="C6D0D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5989320" y="1719072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5989320" y="171907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8476488" y="1719072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8641080" y="171907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5989320" y="2615184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Shape 30"/>
          <p:cNvSpPr/>
          <p:nvPr/>
        </p:nvSpPr>
        <p:spPr>
          <a:xfrm>
            <a:off x="5989320" y="245059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8476488" y="2615184"/>
            <a:ext cx="164592" cy="0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8641080" y="2450592"/>
            <a:ext cx="0" cy="164592"/>
          </a:xfrm>
          <a:prstGeom prst="line">
            <a:avLst/>
          </a:prstGeom>
          <a:noFill/>
          <a:ln w="25400">
            <a:solidFill>
              <a:srgbClr val="DE6B2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 txBox="1"/>
          <p:nvPr/>
        </p:nvSpPr>
        <p:spPr>
          <a:xfrm>
            <a:off x="6153912" y="1810512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E6B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เปลี่ยนคนได้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153912" y="212140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1C334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 AI ก็อ่าน spec แล้วทำต่อได้</a:t>
            </a:r>
            <a:endParaRPr lang="en-US" sz="13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ACC028-D699-2E96-8200-630B3DFD8B0D}"/>
              </a:ext>
            </a:extLst>
          </p:cNvPr>
          <p:cNvSpPr txBox="1"/>
          <p:nvPr/>
        </p:nvSpPr>
        <p:spPr>
          <a:xfrm>
            <a:off x="8845826" y="4807511"/>
            <a:ext cx="4572000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1C3349"/>
                </a:solidFill>
                <a:latin typeface="TH Sarabun New" pitchFamily="34" charset="0"/>
                <a:cs typeface="TH Sarabun New" pitchFamily="34" charset="-120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1567</Words>
  <Application>Microsoft Macintosh PowerPoint</Application>
  <PresentationFormat>On-screen Show (16:9)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</dc:title>
  <dc:subject>PptxGenJS Presentation</dc:subject>
  <dc:creator>Spec Kit Workshop</dc:creator>
  <cp:lastModifiedBy>Phatcharee PUANGJAI</cp:lastModifiedBy>
  <cp:revision>30</cp:revision>
  <dcterms:created xsi:type="dcterms:W3CDTF">2026-09-12T03:37:14Z</dcterms:created>
  <dcterms:modified xsi:type="dcterms:W3CDTF">2026-09-12T05:18:54Z</dcterms:modified>
</cp:coreProperties>
</file>